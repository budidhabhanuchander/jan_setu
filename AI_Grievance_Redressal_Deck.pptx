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5166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introducing the AI grievance redressal system with four cooperating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agent owns a well-defined slice and can be scaled and tested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097280"/>
            <a:ext cx="3291840" cy="329184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846320"/>
            <a:ext cx="2926080" cy="2926080"/>
          </a:xfrm>
          <a:prstGeom prst="ellipse">
            <a:avLst/>
          </a:prstGeom>
          <a:solidFill>
            <a:srgbClr val="1FA2A6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GRIEVANCE REDRESSAL SYSTEM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Architecture for Municipal Governance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on the GHMC grievance workflow  •  Architecture &amp; Design  •  v1.0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municipal grievance handling breaks down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317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Clerks read and categorize every complaint by hand — slow and inconsistent.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7452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Misrouting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3317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self-select the wrong category, so tickets land in the wrong department.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6177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pothole or bin is reported many times with no way to merge them.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16052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SLAs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6177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proactive tracking, so deadlines slip silently and trust erodes.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specialized agents, one orchestrator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one monolithic model, responsibility is split across cooperating agents. Each owns a testable slice of the workflow and hands structured output to the next.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7FD1C5"/>
            </a:solidFill>
            <a:prstDash val="solid"/>
          </a:ln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587752"/>
            <a:ext cx="502920" cy="502920"/>
          </a:xfrm>
          <a:prstGeom prst="ellipse">
            <a:avLst/>
          </a:prstGeom>
          <a:solidFill>
            <a:srgbClr val="1FA2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566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responsibility per agent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3317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7FD1C5"/>
            </a:solidFill>
            <a:prstDash val="solid"/>
          </a:ln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587752"/>
            <a:ext cx="502920" cy="502920"/>
          </a:xfrm>
          <a:prstGeom prst="ellipse">
            <a:avLst/>
          </a:prstGeom>
          <a:solidFill>
            <a:srgbClr val="1FA2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3566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decisions go to staff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23317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7FD1C5"/>
            </a:solidFill>
            <a:prstDash val="solid"/>
          </a:ln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94192" y="2587752"/>
            <a:ext cx="502920" cy="502920"/>
          </a:xfrm>
          <a:prstGeom prst="ellipse">
            <a:avLst/>
          </a:prstGeom>
          <a:solidFill>
            <a:srgbClr val="1FA2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94192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3566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message bus, nothing blocks intake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7FD1C5"/>
            </a:solidFill>
            <a:prstDash val="solid"/>
          </a:ln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4599432"/>
            <a:ext cx="502920" cy="502920"/>
          </a:xfrm>
          <a:prstGeom prst="ellipse">
            <a:avLst/>
          </a:prstGeom>
          <a:solidFill>
            <a:srgbClr val="1FA2A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5212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5577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decision logged with rationale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43400" y="43434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7FD1C5"/>
            </a:solidFill>
            <a:prstDash val="solid"/>
          </a:ln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99432" y="4599432"/>
            <a:ext cx="502920" cy="502920"/>
          </a:xfrm>
          <a:prstGeom prst="ellipse">
            <a:avLst/>
          </a:prstGeom>
          <a:solidFill>
            <a:srgbClr val="1FA2A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99432" y="5212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Horizontally scalable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99432" y="5577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agents, durable state in data layer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8160" y="43434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7FD1C5"/>
            </a:solidFill>
            <a:prstDash val="solid"/>
          </a:ln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94192" y="4599432"/>
            <a:ext cx="502920" cy="502920"/>
          </a:xfrm>
          <a:prstGeom prst="ellipse">
            <a:avLst/>
          </a:prstGeom>
          <a:solidFill>
            <a:srgbClr val="1FA2A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94192" y="5212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394192" y="5577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fallback path always open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layered, event-driven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54480" y="1508760"/>
            <a:ext cx="9052560" cy="713232"/>
          </a:xfrm>
          <a:prstGeom prst="roundRect">
            <a:avLst>
              <a:gd name="adj" fmla="val 7692"/>
            </a:avLst>
          </a:prstGeom>
          <a:solidFill>
            <a:srgbClr val="1FA2A6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828800" y="1563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/ Presentation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8928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· Mobile app · WhatsApp chatbot · IVR voice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554480" y="2368296"/>
            <a:ext cx="9052560" cy="713232"/>
          </a:xfrm>
          <a:prstGeom prst="roundRect">
            <a:avLst>
              <a:gd name="adj" fmla="val 7692"/>
            </a:avLst>
          </a:prstGeom>
          <a:solidFill>
            <a:srgbClr val="0E7C86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828800" y="24231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752344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(OAuth2/JWT) · Rate limiting · Validation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554480" y="3227832"/>
            <a:ext cx="9052560" cy="9144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828800" y="32826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Layer  +  Orchestrator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6850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· Routing · Tracking · Communication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554480" y="4288536"/>
            <a:ext cx="9052560" cy="713232"/>
          </a:xfrm>
          <a:prstGeom prst="roundRect">
            <a:avLst>
              <a:gd name="adj" fmla="val 7692"/>
            </a:avLst>
          </a:prstGeom>
          <a:solidFill>
            <a:srgbClr val="0E7C86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828800" y="4343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4672584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· SLA engine · Notifications · Workflow state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554480" y="5148072"/>
            <a:ext cx="9052560" cy="713232"/>
          </a:xfrm>
          <a:prstGeom prst="roundRect">
            <a:avLst>
              <a:gd name="adj" fmla="val 7692"/>
            </a:avLst>
          </a:prstGeom>
          <a:solidFill>
            <a:srgbClr val="1FA2A6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828800" y="520293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5321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Vector DB · Object store · Kafka bus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6025896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Admin — monitoring, analytics dashboards, audit trail — spans every layer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cooperating AI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7452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Classification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56032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text/voice/image into a structured, categorized, deduplicated grievance.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1874520"/>
            <a:ext cx="868680" cy="868680"/>
          </a:xfrm>
          <a:prstGeom prst="ellipse">
            <a:avLst/>
          </a:prstGeom>
          <a:solidFill>
            <a:srgbClr val="1FA2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4808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Assignment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256032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department, zone and officer with load-balancing and SLA targets.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206240"/>
            <a:ext cx="868680" cy="868680"/>
          </a:xfrm>
          <a:prstGeom prst="ellipse">
            <a:avLst/>
          </a:prstGeom>
          <a:solidFill>
            <a:srgbClr val="1229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4206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206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Tracking &amp; Escalation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489204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SLAs, predicts breaches, nudges and escalates, verifies closure proof.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206240"/>
            <a:ext cx="868680" cy="86868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4206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4206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Communication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489204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conversational updates, feedback capture, and case reopening.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grievance flows end to 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7FD1C5"/>
            </a:solidFill>
            <a:prstDash val="solid"/>
          </a:ln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92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14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reports an overflowing bin with a photo, in Telugu, via chatbot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7FD1C5"/>
            </a:solidFill>
            <a:prstDash val="solid"/>
          </a:ln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856232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892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514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agent transcribes, categorizes as Sanitation, scores severity, checks duplicates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7FD1C5"/>
            </a:solidFill>
            <a:prstDash val="solid"/>
          </a:ln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856232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1892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514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agent assigns least-loaded sanitary inspector in the ward, sets 48h SLA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7FD1C5"/>
            </a:solidFill>
            <a:prstDash val="solid"/>
          </a:ln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42232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142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178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800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agent sends a tracking ID instantly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7FD1C5"/>
            </a:solidFill>
            <a:prstDash val="solid"/>
          </a:ln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4142232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9432" y="4142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178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800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agent nudges at 36h, escalates to zonal officer on breach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7FD1C5"/>
            </a:solidFill>
            <a:prstDash val="solid"/>
          </a:ln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142232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4192" y="4142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4178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4800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uploads proof; verified, citizen notified, feedback collected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pragmatic, scalable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55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762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CrewAI orchestration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1755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1762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 or Llama-class, self-host option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12480" y="1755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1762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embeddings + vector DB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Vision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307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 + image analysis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310896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61772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7307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microservices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38160" y="310896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1248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7307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RabbitMQ event bus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4864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2852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 + object store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43400" y="466344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617720" y="4864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52852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+ React Native / Flutter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38160" y="466344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412480" y="4864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52852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Kubernetes · CI/CD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TRUST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foundation &amp; responsible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2294A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Targets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availability; intake never rejects a grievance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 to citizen within 2 seconds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for festival / monsoon surges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 &amp; at rest, RBAC, PII minimization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DPDP-compliant data residency &amp; consent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&amp; IVR for low-literacy access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2F3"/>
          </a:solidFill>
          <a:ln/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3172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audits so no ward is systematically deprioritized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 + verification to curb hallucination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override any AI decision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rationale stored for every decision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can see routing and appeal it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with officer training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four-phase implementation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25400">
            <a:solidFill>
              <a:srgbClr val="1FA2A6"/>
            </a:solidFill>
            <a:prstDash val="solid"/>
          </a:ln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FA2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74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A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461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intake, classification, rule-based routing, basic tracking — pilot in one zone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4992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82880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56432" y="1874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Multichannel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32461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Voice/image intake, deduplication, SLA prediction, citizen chatbot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25400">
            <a:solidFill>
              <a:srgbClr val="12294A"/>
            </a:solidFill>
            <a:prstDash val="solid"/>
          </a:ln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82880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229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72784" y="1874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City-wide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32461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escalation, analytics dashboard, cross-department cases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97696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25400">
            <a:solidFill>
              <a:srgbClr val="E8A13A"/>
            </a:solidFill>
            <a:prstDash val="solid"/>
          </a:ln>
          <a:effectLst>
            <a:outerShdw blurRad="101600" dist="38100" dir="5400000" algn="bl" rotWithShape="0">
              <a:srgbClr val="5B6B7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97696" y="182880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E8A1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89136" y="1874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134856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Preventive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80576" y="32461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and proactive civic-issue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572000"/>
            <a:ext cx="3108960" cy="3108960"/>
          </a:xfrm>
          <a:prstGeom prst="ellipse">
            <a:avLst/>
          </a:prstGeom>
          <a:solidFill>
            <a:srgbClr val="1FA2A6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24688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manual backlog to accountable, intelligent governance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· Scalable · Auditable · Citizen-first — applicable to any urban local body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</Words>
  <Application>Microsoft Office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Grievance Redressal System</dc:creator>
  <cp:lastModifiedBy>Budidha Bhanu Chander</cp:lastModifiedBy>
  <cp:revision>1</cp:revision>
  <dcterms:created xsi:type="dcterms:W3CDTF">2026-08-27T20:00:07Z</dcterms:created>
  <dcterms:modified xsi:type="dcterms:W3CDTF">2026-08-27T20:08:23Z</dcterms:modified>
</cp:coreProperties>
</file>